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9436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Pikslots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749040" y="59436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 Infrastructure for Modern Businesses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4114800" cy="36576"/>
          </a:xfrm>
          <a:prstGeom prst="rect">
            <a:avLst/>
          </a:prstGeom>
          <a:solidFill>
            <a:srgbClr val="F97316">
              <a:alpha val="6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12848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SaaS platform that empowers salons, clinics, fitness studios, and service businesses to offer seamless online booking — fully branded, fully configurable, zero friction.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Stakeholder Presentation  | 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78040" y="868680"/>
            <a:ext cx="1691640" cy="1051560"/>
          </a:xfrm>
          <a:prstGeom prst="rect">
            <a:avLst/>
          </a:prstGeom>
          <a:solidFill>
            <a:srgbClr val="F97316">
              <a:alpha val="28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9418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1527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Industries Served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2194560"/>
            <a:ext cx="1691640" cy="1051560"/>
          </a:xfrm>
          <a:prstGeom prst="rect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78040" y="2267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178040" y="28529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Subscription Tiers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3520440"/>
            <a:ext cx="1691640" cy="1051560"/>
          </a:xfrm>
          <a:prstGeom prst="rect">
            <a:avLst/>
          </a:prstGeom>
          <a:solidFill>
            <a:srgbClr val="0EA5E9">
              <a:alpha val="28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359359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78040" y="4178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2FE"/>
                </a:solidFill>
              </a:rPr>
              <a:t>Role Types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is broken for service businesses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64008" cy="16642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98448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1288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Tag &amp; No-Shows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168249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via phone and WhatsApp leads to missed appointments, double-bookings, and wasted staff hours.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115568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15568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298448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04688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Tools, Poor Fit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168249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scheduling tools lack industry customization, require developers to configure, and lock businesses into rigid workflows.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62656"/>
            <a:ext cx="64008" cy="16642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45536"/>
            <a:ext cx="438912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61288" y="3127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Brand Control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352958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booking pages break brand trust. Customers land on generic, unbranded forms that erode credibility.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962656"/>
            <a:ext cx="40690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62656"/>
            <a:ext cx="64008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145536"/>
            <a:ext cx="438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4688" y="3127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Business Intelligence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352958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 across spreadsheets and WhatsApp. Owners cannot see trends, revenue, or customer retention at a glance.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17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Every booking need.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987552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Pikslots is a white-label, multi-tenant appointment booking SaaS. Businesses get a fully branded booking page at their own subdomain, with deep control over scheduling rules, team management, customer experience, and payments.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2633472" cy="2212848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578608"/>
            <a:ext cx="263347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743200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" y="33101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White-Label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" y="373075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 + brand colors, logos, button styles, light/dark themes — your brand, your rules.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2578608"/>
            <a:ext cx="2633472" cy="2212848"/>
          </a:xfrm>
          <a:prstGeom prst="rect">
            <a:avLst/>
          </a:prstGeom>
          <a:solidFill>
            <a:srgbClr val="252060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2578608"/>
            <a:ext cx="2633472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2743200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19856" y="33101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Configurable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73075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policies, lead times, cancellation rules, team modes — every detail configurable per business.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17336" y="2578608"/>
            <a:ext cx="2633472" cy="2212848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2578608"/>
            <a:ext cx="2633472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14616" y="2743200"/>
            <a:ext cx="438912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14616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7064" y="33101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Intelligent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81928" y="3730752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metrics, visitor trends, customer retention analytics — business intelligence built right 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featured operations hub for service businesses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572768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Pikslots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Afaq's Demo Business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salon_and_beauty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1572768" cy="365760"/>
          </a:xfrm>
          <a:prstGeom prst="rect">
            <a:avLst/>
          </a:prstGeom>
          <a:solidFill>
            <a:srgbClr val="7C3AED">
              <a:alpha val="6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66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Bookings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Services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Customers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3328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Payments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Integrations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Settings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Afaq Javed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afaq@afaqjaved.com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176272" y="10789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76272" y="1078992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161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67712" y="1389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$1,250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67712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+12.5% this month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95344" y="10789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95344" y="1078992"/>
            <a:ext cx="1600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86784" y="1161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New Customers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86784" y="1389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1,234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86784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Acquisition focus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14416" y="10789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14416" y="1078992"/>
            <a:ext cx="1600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05856" y="1161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Active Accounts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05856" y="1389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45,678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05856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+12.5% retained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33488" y="10789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33488" y="1078992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1161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Growth Rate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24928" y="1389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424928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Steady performance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76272" y="2212848"/>
            <a:ext cx="6720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04288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Total Visitors — Last 3 Months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Mobile    Desktop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04288" y="3182112"/>
            <a:ext cx="384048" cy="32004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0" y="3538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7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807208" y="2999232"/>
            <a:ext cx="384048" cy="50292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10128" y="3090672"/>
            <a:ext cx="384048" cy="41148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13048" y="2816352"/>
            <a:ext cx="384048" cy="6858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3538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28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315968" y="2907792"/>
            <a:ext cx="384048" cy="59436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18888" y="2724912"/>
            <a:ext cx="384048" cy="777240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538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12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321808" y="2953512"/>
            <a:ext cx="384048" cy="54864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24728" y="2843784"/>
            <a:ext cx="384048" cy="658368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538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26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327648" y="2697480"/>
            <a:ext cx="384048" cy="80467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30568" y="2633472"/>
            <a:ext cx="384048" cy="86868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3538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333488" y="2880360"/>
            <a:ext cx="384048" cy="621792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36408" y="3026664"/>
            <a:ext cx="384048" cy="475488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26680" y="3538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30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176272" y="3858768"/>
            <a:ext cx="6720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304288" y="39502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Outline  |  Past Performance (3)  |  Key Personnel (2)  |  Focus Documents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304288" y="4261104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Customizable sections keep every business organized — documents, team rosters, performance data, all in one place.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a service business needs — nothing they don't.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98448"/>
            <a:ext cx="2761488" cy="1664208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98448"/>
            <a:ext cx="276148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63040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SBE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3856" y="1463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Booking Engine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2064" y="20116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slot size, scheduling windows, cancellation rules — all configurable per business.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0128" y="1298448"/>
            <a:ext cx="2761488" cy="1664208"/>
          </a:xfrm>
          <a:prstGeom prst="rect">
            <a:avLst/>
          </a:prstGeom>
          <a:solidFill>
            <a:srgbClr val="252060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298448"/>
            <a:ext cx="2761488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1463040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59936" y="1463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Customization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38144" y="20116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banner, brand colors, button shapes, light/dark themes, gallery, custom URL.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1298448"/>
            <a:ext cx="2761488" cy="1664208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298448"/>
            <a:ext cx="276148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1463040"/>
            <a:ext cx="438912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86016" y="14630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64224" y="20116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members with role-based access. 6 roles from Platform Owner to Standard user.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3127248"/>
            <a:ext cx="2761488" cy="1664208"/>
          </a:xfrm>
          <a:prstGeom prst="rect">
            <a:avLst/>
          </a:prstGeom>
          <a:solidFill>
            <a:srgbClr val="252060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127248"/>
            <a:ext cx="276148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291840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33856" y="32918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" y="38404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KPIs: revenue, customer growth, retention. Mobile + desktop visitor tracking.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10128" y="3127248"/>
            <a:ext cx="2761488" cy="1664208"/>
          </a:xfrm>
          <a:prstGeom prst="rect">
            <a:avLst/>
          </a:prstGeom>
          <a:solidFill>
            <a:srgbClr val="252060"/>
          </a:solidFill>
          <a:ln w="12700">
            <a:solidFill>
              <a:srgbClr val="EC4899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10128" y="3127248"/>
            <a:ext cx="2761488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93008" y="3291840"/>
            <a:ext cx="438912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59936" y="32918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Hub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438144" y="38404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payment processors, notifications, email, and third-party tools seamlessly.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6208" y="3127248"/>
            <a:ext cx="2761488" cy="1664208"/>
          </a:xfrm>
          <a:prstGeom prst="rect">
            <a:avLst/>
          </a:prstGeom>
          <a:solidFill>
            <a:srgbClr val="252060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36208" y="3127248"/>
            <a:ext cx="276148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9088" y="3291840"/>
            <a:ext cx="438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86016" y="32918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Security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364224" y="38404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bcrypt, role guards on all endpoints. Soft delete, full audit trail, business isolation.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2926080"/>
            <a:ext cx="3657600" cy="3657600"/>
          </a:xfrm>
          <a:prstGeom prst="ellipse">
            <a:avLst/>
          </a:prstGeom>
          <a:solidFill>
            <a:srgbClr val="F97316">
              <a:alpha val="17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38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&amp;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93268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CUSTOMIZATION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FE"/>
                </a:solidFill>
              </a:rPr>
              <a:t>Each business gets a fully customizable booking page: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3364992" cy="502920"/>
          </a:xfrm>
          <a:prstGeom prst="rect">
            <a:avLst/>
          </a:prstGeom>
          <a:solidFill>
            <a:srgbClr val="2D286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328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glowspa.pikslots.com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14553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Upload logo &amp; banner image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43814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10 brand color options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7307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Pill, Rounded, or Rectangle buttons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02336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Light / Dark / System theme mode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3159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Photo gallery upload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60857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Hide or show Pikslots branding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0832" y="320040"/>
            <a:ext cx="44805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0832" y="320040"/>
            <a:ext cx="4480560" cy="74980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411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Settings  &gt;  Appearance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98848" y="694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Your brand  |  35% 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75320" y="438912"/>
            <a:ext cx="4572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57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Save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98848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Brand color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98848" y="1499616"/>
            <a:ext cx="274320" cy="27432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1499616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30368" y="1499616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96128" y="1499616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61888" y="149961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1499616"/>
            <a:ext cx="274320" cy="2743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3408" y="1499616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59168" y="14996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4928" y="149961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90688" y="1499616"/>
            <a:ext cx="274320" cy="274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Button shape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98848" y="2249424"/>
            <a:ext cx="129844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98848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Pill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98848" y="27066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Pill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16168" y="2249424"/>
            <a:ext cx="1298448" cy="68580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16168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Rounded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16168" y="27066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Rounded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33488" y="2249424"/>
            <a:ext cx="129844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33488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Rectangle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33488" y="270662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Rectangle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498848" y="3035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Theme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98848" y="3337560"/>
            <a:ext cx="1298448" cy="749808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98848" y="338328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</a:rPr>
              <a:t>Desktop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498848" y="37124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</a:rPr>
              <a:t>System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16168" y="3337560"/>
            <a:ext cx="1298448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168" y="338328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Sun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916168" y="37124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Light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333488" y="3337560"/>
            <a:ext cx="1298448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33488" y="338328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Moon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333488" y="37124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Dark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49884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Live preview: glowspa.pikslots.com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CONFIGURATION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control over every aspect of the booking experience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4114800" cy="475488"/>
          </a:xfrm>
          <a:prstGeom prst="rect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179576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179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Policies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7282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6824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Lead time (minutes/hours/days)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00253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9568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Scheduling window (how far ahead)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2768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2311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Booking slot granularity (e.g. 15 min)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55117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5054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Cancellation &amp; rescheduling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15568"/>
            <a:ext cx="4114800" cy="475488"/>
          </a:xfrm>
          <a:prstGeom prst="rect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179576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79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Setup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37760" y="17282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6824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Team member selection mode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00253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9568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Multi-service booking toggle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2768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2311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Customer login requirement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55117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5054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Post-booking redirect URL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" y="2944368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4048" y="2944368"/>
            <a:ext cx="4114800" cy="475488"/>
          </a:xfrm>
          <a:prstGeom prst="rect">
            <a:avLst/>
          </a:prstGeom>
          <a:solidFill>
            <a:srgbClr val="0EA5E9">
              <a:alpha val="9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" y="3008376"/>
            <a:ext cx="438912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CF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69848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Fields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66928" y="355701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35112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Enable/require name, email, phone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383133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37856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Address field control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41056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0599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Custom fields per industry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437997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43342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Terms &amp; conditions acceptance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2944368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944368"/>
            <a:ext cx="4114800" cy="475488"/>
          </a:xfrm>
          <a:prstGeom prst="rect">
            <a:avLst/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3008376"/>
            <a:ext cx="438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CZ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40680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4937760" y="355701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51129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Language selection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38313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378561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12h / 24h time format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37760" y="41056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405993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Week start day configuration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37760" y="437997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43342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Label overrides (rename anything)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TARGET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service business that takes appointments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EC489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15544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499616"/>
            <a:ext cx="438912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Salon &amp; Beauty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Hair, nails, spas, barbers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03120" y="135331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03120" y="1353312"/>
            <a:ext cx="1554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1499616"/>
            <a:ext cx="438912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76272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 &amp; Medical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2359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Clinics, dentists, physio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94760" y="135331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1353312"/>
            <a:ext cx="1554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2544" y="1499616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67912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Fitness &amp; Sports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2359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Gyms, trainers, yoga studios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135331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FBBF24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353312"/>
            <a:ext cx="1554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4184" y="1499616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59552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Education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2359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Tutors, coaches, workshops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78040" y="135331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7C3AED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78040" y="1353312"/>
            <a:ext cx="1554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35824" y="1499616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5824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LF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51192" y="2011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Legal &amp; Finance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23760" y="2359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Lawyers, accountants, advisors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04495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3044952"/>
            <a:ext cx="1554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9264" y="3191256"/>
            <a:ext cx="43891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84632" y="3703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Home Services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050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Plumbers, cleaners, repairs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0" y="304495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EC489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103120" y="3044952"/>
            <a:ext cx="155448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60904" y="3191256"/>
            <a:ext cx="438912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60904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176272" y="3703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Pet Services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48840" y="4050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Vets, groomers, trainers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94760" y="304495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794760" y="3044952"/>
            <a:ext cx="15544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52544" y="3191256"/>
            <a:ext cx="438912" cy="43891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52544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867912" y="3703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Creative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840480" y="4050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Photographers, designers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86400" y="304495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86400" y="3044952"/>
            <a:ext cx="15544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3191256"/>
            <a:ext cx="4389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44184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WL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559552" y="3703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Wellness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532120" y="4050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Therapists, nutritionists, coaches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178040" y="3044952"/>
            <a:ext cx="1554480" cy="1481328"/>
          </a:xfrm>
          <a:prstGeom prst="rect">
            <a:avLst/>
          </a:prstGeom>
          <a:solidFill>
            <a:srgbClr val="252060"/>
          </a:solidFill>
          <a:ln w="12700">
            <a:solidFill>
              <a:srgbClr val="FBBF24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178040" y="3044952"/>
            <a:ext cx="15544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5824" y="3191256"/>
            <a:ext cx="43891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35824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251192" y="3703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Professional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223760" y="4050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7D2FE"/>
                </a:solidFill>
              </a:rPr>
              <a:t>Any appointment-based B2B/B2C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47823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Global appointment scheduling market: $546M (2023) growing to $1.1B+ by 2030 at 10.7% CAGR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SaaS with a 14-day free trial on every paid tier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99339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1993392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$0/mo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4825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 staff member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Basic booking page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Email notifications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64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Pikslots branding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4315968"/>
            <a:ext cx="1773936" cy="384048"/>
          </a:xfrm>
          <a:prstGeom prst="rect">
            <a:avLst/>
          </a:prstGeom>
          <a:solidFill>
            <a:srgbClr val="64748B">
              <a:alpha val="88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33425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Forever free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41448" y="1078992"/>
            <a:ext cx="199339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41448" y="1078992"/>
            <a:ext cx="1993392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51176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$29/mo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578608" y="208483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04825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Up to 5 staff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78608" y="252374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Remove branding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78608" y="29626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2926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Custom subdomain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78608" y="340156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3364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Basic analytics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51176" y="4315968"/>
            <a:ext cx="1773936" cy="384048"/>
          </a:xfrm>
          <a:prstGeom prst="rect">
            <a:avLst/>
          </a:prstGeom>
          <a:solidFill>
            <a:srgbClr val="0EA5E9">
              <a:alpha val="8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51176" y="433425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14-day free trial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62856" y="1078992"/>
            <a:ext cx="1993392" cy="3822192"/>
          </a:xfrm>
          <a:prstGeom prst="rect">
            <a:avLst/>
          </a:prstGeom>
          <a:solidFill>
            <a:srgbClr val="1E1B4B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62856" y="1078992"/>
            <a:ext cx="199339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2584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672584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$79/mo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700016" y="20848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204825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</a:rPr>
              <a:t>Unlimited staff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0016" y="252374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</a:rPr>
              <a:t>Advanced analytics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0016" y="29626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2926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</a:rPr>
              <a:t>Priority support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0016" y="340156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3364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</a:rPr>
              <a:t>Integrations hub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72584" y="4315968"/>
            <a:ext cx="177393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72584" y="433425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Most Popular  |  14-day trial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84264" y="1078992"/>
            <a:ext cx="199339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84264" y="1078992"/>
            <a:ext cx="1993392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93992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793992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821424" y="208483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04304" y="204825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Multi-location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21424" y="252374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04304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Custom SLA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21424" y="29626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04304" y="29260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Dedicated onboarding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821424" y="34015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04304" y="3364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API access &amp; webhooks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793992" y="4315968"/>
            <a:ext cx="1773936" cy="384048"/>
          </a:xfrm>
          <a:prstGeom prst="rect">
            <a:avLst/>
          </a:prstGeom>
          <a:solidFill>
            <a:srgbClr val="F97316">
              <a:alpha val="8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93992" y="433425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14-day free trial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Enterprise-grade, modern, and fully type-safe.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80160"/>
            <a:ext cx="1993392" cy="3520440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80160"/>
            <a:ext cx="1993392" cy="54864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" y="1938528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568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2459736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780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Kysely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2980944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(Redis queues)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" y="3502152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" y="4023360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05456" y="1280160"/>
            <a:ext cx="1993392" cy="3520440"/>
          </a:xfrm>
          <a:prstGeom prst="rect">
            <a:avLst/>
          </a:prstGeom>
          <a:solidFill>
            <a:srgbClr val="252060"/>
          </a:solidFill>
          <a:ln w="12700">
            <a:solidFill>
              <a:srgbClr val="7C3AED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05456" y="1280160"/>
            <a:ext cx="1993392" cy="54864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13350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33472" y="1938528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19568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 + TypeScript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33472" y="2459736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24780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33472" y="2980944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Svelte Query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3472" y="3502152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61488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form validation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33472" y="4023360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61488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Layerchart (D3) charts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1280160"/>
            <a:ext cx="1993392" cy="3520440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6864" y="1280160"/>
            <a:ext cx="1993392" cy="548640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3350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1938528"/>
            <a:ext cx="6400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19568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459736"/>
            <a:ext cx="6400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24780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980944"/>
            <a:ext cx="6400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pattern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502152"/>
            <a:ext cx="6400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design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4023360"/>
            <a:ext cx="64008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v22 monorepo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48272" y="1280160"/>
            <a:ext cx="1993392" cy="3520440"/>
          </a:xfrm>
          <a:prstGeom prst="rect">
            <a:avLst/>
          </a:prstGeom>
          <a:solidFill>
            <a:srgbClr val="252060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48272" y="1280160"/>
            <a:ext cx="1993392" cy="54864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6288" y="13350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76288" y="1938528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04304" y="19568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76288" y="2459736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04304" y="24780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queues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76288" y="2980944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04304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+ SMTP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76288" y="3502152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04304" y="3520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SvelteKit build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76288" y="4023360"/>
            <a:ext cx="64008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04304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package manager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84048" y="4663440"/>
            <a:ext cx="8375904" cy="256032"/>
          </a:xfrm>
          <a:prstGeom prst="rect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Type-safe end-to-end   |   Shared Zod schemas   |   Framework-agnostic domain   |   Multi-tenant by design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Pikslots wins where others fall short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2377440" cy="4023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42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Feature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1488" y="1024128"/>
            <a:ext cx="14173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042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Pikslots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15384" y="1024128"/>
            <a:ext cx="1417320" cy="4023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8536" y="1042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Calendly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1024128"/>
            <a:ext cx="1417320" cy="4023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042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Acuity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23176" y="1024128"/>
            <a:ext cx="1417320" cy="402336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10424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Generic Tools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145389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472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White-label branding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61488" y="14538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1472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Full Control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15384" y="14538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1472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14538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472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Partial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23176" y="14538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6328" y="1472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1911096"/>
            <a:ext cx="237744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1929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Custom subdomain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61488" y="19110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1929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Included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15384" y="19110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88536" y="1929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19110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1929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Add-on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23176" y="19110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1929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236829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386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Multi-industry config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61488" y="23682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2386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10+ verticals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15384" y="23682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88536" y="2386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0" y="23682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2386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Limited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23176" y="23682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96328" y="23865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" y="2825496"/>
            <a:ext cx="237744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2843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Built-in analytics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61488" y="28254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28437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Real-time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15384" y="28254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88536" y="28437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Basic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0" y="28254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28437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Basic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123176" y="28254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96328" y="28437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7472" y="328269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3300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Clean Architecture codebase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61488" y="32826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34640" y="33009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Yes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15384" y="32826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88536" y="33009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N/A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669280" y="32826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42432" y="33009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N/A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123176" y="32826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96328" y="33009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N/A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47472" y="3739896"/>
            <a:ext cx="237744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" y="3758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Role-based access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61488" y="37398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0" y="3758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6 roles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215384" y="37398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88536" y="3758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 roles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669280" y="37398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42432" y="3758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3 roles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123176" y="3739896"/>
            <a:ext cx="1417320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96328" y="37581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47472" y="4197096"/>
            <a:ext cx="2377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0624" y="4215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14-day trial all tiers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761488" y="4197096"/>
            <a:ext cx="1417320" cy="42062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34640" y="4215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All paid tiers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215384" y="41970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88536" y="4215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Yes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669280" y="41970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42432" y="4215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Yes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123176" y="4197096"/>
            <a:ext cx="1417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96328" y="4215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Varies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GO-TO-MARKET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Land, expand, and become indispensable.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743200" cy="3749040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61872"/>
            <a:ext cx="2743200" cy="731520"/>
          </a:xfrm>
          <a:prstGeom prst="rect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Phase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Validate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" y="2084832"/>
            <a:ext cx="1463040" cy="256032"/>
          </a:xfrm>
          <a:prstGeom prst="rect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03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Months 1–3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" y="2487168"/>
            <a:ext cx="13716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4505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 tier — zero-risk adoption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035808"/>
            <a:ext cx="13716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9992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salons &amp; wellness (highest density)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3584448"/>
            <a:ext cx="13716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5478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feedback, iterate on 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" y="4133088"/>
            <a:ext cx="137160" cy="137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09651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 100 paying customers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1261872"/>
            <a:ext cx="2743200" cy="3749040"/>
          </a:xfrm>
          <a:prstGeom prst="rect">
            <a:avLst/>
          </a:prstGeom>
          <a:solidFill>
            <a:srgbClr val="252060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261872"/>
            <a:ext cx="2743200" cy="731520"/>
          </a:xfrm>
          <a:prstGeom prst="rect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Phase 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&amp; Monetize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429000" y="2084832"/>
            <a:ext cx="1463040" cy="256032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103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Months 4–9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487168"/>
            <a:ext cx="13716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4505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paid tiers via feature gating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035808"/>
            <a:ext cx="13716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29992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industry associations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584448"/>
            <a:ext cx="13716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35478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marketing: SEO + social proof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4133088"/>
            <a:ext cx="13716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409651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launch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1261872"/>
            <a:ext cx="2743200" cy="3749040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9632" y="1261872"/>
            <a:ext cx="2743200" cy="731520"/>
          </a:xfrm>
          <a:prstGeom prst="rect">
            <a:avLst/>
          </a:prstGeom>
          <a:solidFill>
            <a:srgbClr val="0EA5E9">
              <a:alpha val="9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Phase 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36792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Dominate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36792" y="2084832"/>
            <a:ext cx="1463040" cy="256032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2103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Months 10–18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36792" y="2487168"/>
            <a:ext cx="13716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245059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 with custom SLAs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36792" y="3035808"/>
            <a:ext cx="13716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29992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ecosystem + webhooks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36792" y="3584448"/>
            <a:ext cx="13716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54787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reseller program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36792" y="4133088"/>
            <a:ext cx="137160" cy="137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09651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 / 15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validated, and ready to scale.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19659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78992"/>
            <a:ext cx="1965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" y="19933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Industries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Supported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1078992"/>
            <a:ext cx="19659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078992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17043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578608" y="19933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Subscription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Tiers Built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0288" y="1078992"/>
            <a:ext cx="19659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078992"/>
            <a:ext cx="19659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17043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81728" y="19933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Role-Based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Access Levels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93408" y="1078992"/>
            <a:ext cx="196596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93408" y="1078992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17043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784848" y="19933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TypeScript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End-to-End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Development Milestones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80160" y="3675888"/>
            <a:ext cx="6601968" cy="3657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3538728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04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Q1 2025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1696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Architecture &amp; Auth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4462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Clean arch, JWT auth, 6-role RBAC, multi-tenant foundation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538728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904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Q2 2025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87168" y="41696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Core Features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78608" y="4462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Booking, services, customers, payments, integrations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3538728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904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Q3 2025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90288" y="41696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Brand &amp; UX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81728" y="4462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Full brand customization, analytics dashboard, SvelteKit UI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0" y="3538728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3904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Q4 2025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93408" y="41696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Polish &amp; Launch Prep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84848" y="44622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Subscription tiers, billing, reviews, security hardening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 raising $750K to accelerate growth.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530352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0759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Use of funds breakdown  |  14-month runway to Series A readiness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920240"/>
            <a:ext cx="2743200" cy="2999232"/>
          </a:xfrm>
          <a:prstGeom prst="rect">
            <a:avLst/>
          </a:prstGeom>
          <a:solidFill>
            <a:srgbClr val="252060"/>
          </a:solidFill>
          <a:ln w="12700">
            <a:solidFill>
              <a:srgbClr val="F97316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920240"/>
            <a:ext cx="2743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933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84048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$300K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345643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4198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Mobile app (iOS + Android)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" y="389534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85876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Advanced reporting module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" y="43342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2976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AI-powered scheduling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920240"/>
            <a:ext cx="2743200" cy="2999232"/>
          </a:xfrm>
          <a:prstGeom prst="rect">
            <a:avLst/>
          </a:prstGeom>
          <a:solidFill>
            <a:srgbClr val="252060"/>
          </a:solidFill>
          <a:ln w="12700">
            <a:solidFill>
              <a:srgbClr val="7C3AED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92024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9933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29184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$262K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&amp; Marketing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20440" y="34564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4198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Paid acquisition channels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389534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385876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Content &amp; SEO strategy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43342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42976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Partnership ecosystem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1920240"/>
            <a:ext cx="2743200" cy="2999232"/>
          </a:xfrm>
          <a:prstGeom prst="rect">
            <a:avLst/>
          </a:prstGeom>
          <a:solidFill>
            <a:srgbClr val="252060"/>
          </a:solidFill>
          <a:ln w="12700">
            <a:solidFill>
              <a:srgbClr val="0EA5E9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1920240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9933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6199632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$188K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36792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&amp; Ops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28232" y="345643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34198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Cloud infrastructure scaling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28232" y="389534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385876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Security audits &amp; compliance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28232" y="43342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42976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success team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Pikslots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4709160" y="713232"/>
            <a:ext cx="228600" cy="228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 Infrastructure for Modern Businesses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4572000" cy="36576"/>
          </a:xfrm>
          <a:prstGeom prst="rect">
            <a:avLst/>
          </a:prstGeom>
          <a:solidFill>
            <a:srgbClr val="F97316">
              <a:alpha val="6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871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service scheduling together.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1280160" cy="34747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21868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Website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pikslots.com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657600"/>
            <a:ext cx="1280160" cy="34747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94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3694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afaq.javed@dotcms.com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4133088"/>
            <a:ext cx="1280160" cy="347472"/>
          </a:xfrm>
          <a:prstGeom prst="rect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69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41696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glowspa.pikslots.com (demo)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31152" y="4370832"/>
            <a:ext cx="1920240" cy="658368"/>
          </a:xfrm>
          <a:prstGeom prst="rect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Stakeholder Deck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31152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Pikslots – SaaS Stakeholder Presentation</dc:title>
  <dc:subject>PptxGenJS Presentation</dc:subject>
  <dc:creator>Pikslots</dc:creator>
  <cp:lastModifiedBy>Pikslots</cp:lastModifiedBy>
  <cp:revision>1</cp:revision>
  <dcterms:created xsi:type="dcterms:W3CDTF">2026-05-29T07:20:39Z</dcterms:created>
  <dcterms:modified xsi:type="dcterms:W3CDTF">2026-05-29T07:20:39Z</dcterms:modified>
</cp:coreProperties>
</file>